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antason Bold" charset="1" panose="00000000000000000000"/>
      <p:regular r:id="rId15"/>
    </p:embeddedFont>
    <p:embeddedFont>
      <p:font typeface="Cloud" charset="1" panose="02000000000000000000"/>
      <p:regular r:id="rId16"/>
    </p:embeddedFont>
    <p:embeddedFont>
      <p:font typeface="Arimo Bold" charset="1" panose="020B0704020202020204"/>
      <p:regular r:id="rId17"/>
    </p:embeddedFont>
    <p:embeddedFont>
      <p:font typeface="Cloud Bold" charset="1" panose="02000000000000000000"/>
      <p:regular r:id="rId18"/>
    </p:embeddedFont>
    <p:embeddedFont>
      <p:font typeface="DM Sans" charset="1" panose="00000000000000000000"/>
      <p:regular r:id="rId19"/>
    </p:embeddedFont>
    <p:embeddedFont>
      <p:font typeface="Canva Sans" charset="1" panose="020B0503030501040103"/>
      <p:regular r:id="rId20"/>
    </p:embeddedFont>
    <p:embeddedFont>
      <p:font typeface="Arimo" charset="1" panose="020B0604020202020204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63419" y="1865662"/>
            <a:ext cx="16017287" cy="3444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2"/>
              </a:lnSpc>
            </a:pPr>
            <a:r>
              <a:rPr lang="en-US" b="true" sz="655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PROJECT TITLE CLOUD-BASED WEATHER TEMPERATURE ANALYSIS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4231" y="9521908"/>
            <a:ext cx="6329638" cy="76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7"/>
              </a:lnSpc>
            </a:pPr>
            <a:r>
              <a:rPr lang="en-US" sz="436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By Dina Khadka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0158" y="4412738"/>
            <a:ext cx="5766352" cy="632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0"/>
              </a:lnSpc>
            </a:pPr>
            <a:r>
              <a:rPr lang="en-US" b="true" sz="3736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4365" y="4959149"/>
            <a:ext cx="16112702" cy="511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05"/>
              </a:lnSpc>
            </a:pPr>
          </a:p>
          <a:p>
            <a:pPr algn="just" marL="835969" indent="-417984" lvl="1">
              <a:lnSpc>
                <a:spcPts val="5420"/>
              </a:lnSpc>
              <a:buFont typeface="Arial"/>
              <a:buChar char="•"/>
            </a:pPr>
            <a:r>
              <a:rPr lang="en-US" sz="387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This cloud-based system analyzes weather data using machine learning and provides actionable weather advisory messages including Safe, Caution and Avoid</a:t>
            </a:r>
          </a:p>
          <a:p>
            <a:pPr algn="just" marL="835969" indent="-417984" lvl="1">
              <a:lnSpc>
                <a:spcPts val="5420"/>
              </a:lnSpc>
              <a:buFont typeface="Arial"/>
              <a:buChar char="•"/>
            </a:pPr>
            <a:r>
              <a:rPr lang="en-US" sz="387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This system converts complex weather data into simple, easy-to-understand advisory messages for immediate action.</a:t>
            </a:r>
          </a:p>
          <a:p>
            <a:pPr algn="just">
              <a:lnSpc>
                <a:spcPts val="4085"/>
              </a:lnSpc>
            </a:pPr>
          </a:p>
          <a:p>
            <a:pPr algn="just">
              <a:lnSpc>
                <a:spcPts val="4085"/>
              </a:lnSpc>
            </a:pPr>
            <a:r>
              <a:rPr lang="en-US" sz="2918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0158" y="-302091"/>
            <a:ext cx="657083" cy="148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46"/>
              </a:lnSpc>
              <a:spcBef>
                <a:spcPct val="0"/>
              </a:spcBef>
            </a:pPr>
            <a:r>
              <a:rPr lang="en-US" b="true" sz="8533">
                <a:solidFill>
                  <a:srgbClr val="0C3571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1366" y="1269047"/>
            <a:ext cx="15487934" cy="3043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PROBLEM Statement:-</a:t>
            </a:r>
          </a:p>
          <a:p>
            <a:pPr algn="ctr" marL="928363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Numeric weather values alone are insufficient for quick decision-making in today’s busy lifestyle</a:t>
            </a:r>
            <a:r>
              <a:rPr lang="en-US" b="true" sz="42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.</a:t>
            </a:r>
          </a:p>
          <a:p>
            <a:pPr algn="ctr">
              <a:lnSpc>
                <a:spcPts val="60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96034" y="155574"/>
            <a:ext cx="5704766" cy="87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1366" y="384352"/>
            <a:ext cx="11163324" cy="87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4"/>
              </a:lnSpc>
            </a:pPr>
            <a:r>
              <a:rPr lang="en-US" b="true" sz="5167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 HIGHLIGHT OF THE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49910" y="1508672"/>
            <a:ext cx="14440913" cy="488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6508" indent="-428254" lvl="1">
              <a:lnSpc>
                <a:spcPts val="5554"/>
              </a:lnSpc>
              <a:buFont typeface="Arial"/>
              <a:buChar char="•"/>
            </a:pP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End-to-End Weather Temperature Analysis System</a:t>
            </a:r>
          </a:p>
          <a:p>
            <a:pPr algn="just" marL="856508" indent="-428254" lvl="1">
              <a:lnSpc>
                <a:spcPts val="5554"/>
              </a:lnSpc>
              <a:buFont typeface="Arial"/>
              <a:buChar char="•"/>
            </a:pP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Automated data ingestion &amp; preprocessing</a:t>
            </a:r>
          </a:p>
          <a:p>
            <a:pPr algn="just" marL="856508" indent="-428254" lvl="1">
              <a:lnSpc>
                <a:spcPts val="5554"/>
              </a:lnSpc>
              <a:buFont typeface="Arial"/>
              <a:buChar char="•"/>
            </a:pP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Weather risk classification (Safe / Caution / Avoid)</a:t>
            </a:r>
          </a:p>
          <a:p>
            <a:pPr algn="just" marL="856508" indent="-428254" lvl="1">
              <a:lnSpc>
                <a:spcPts val="5554"/>
              </a:lnSpc>
              <a:buFont typeface="Arial"/>
              <a:buChar char="•"/>
            </a:pP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C</a:t>
            </a: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ontainerized Application using Docker</a:t>
            </a:r>
          </a:p>
          <a:p>
            <a:pPr algn="just" marL="856508" indent="-428254" lvl="1">
              <a:lnSpc>
                <a:spcPts val="5554"/>
              </a:lnSpc>
              <a:buFont typeface="Arial"/>
              <a:buChar char="•"/>
            </a:pP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Kubernetes-Based Orchestration Architecture</a:t>
            </a:r>
          </a:p>
          <a:p>
            <a:pPr algn="just" marL="856508" indent="-428254" lvl="1">
              <a:lnSpc>
                <a:spcPts val="5554"/>
              </a:lnSpc>
              <a:buFont typeface="Arial"/>
              <a:buChar char="•"/>
            </a:pPr>
            <a:r>
              <a:rPr lang="en-US" sz="3967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RESTful API for Weather Data Interaction</a:t>
            </a:r>
          </a:p>
          <a:p>
            <a:pPr algn="just">
              <a:lnSpc>
                <a:spcPts val="555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16331" y="6096221"/>
            <a:ext cx="14455339" cy="359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Design Decisi</a:t>
            </a: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ons:</a:t>
            </a:r>
          </a:p>
          <a:p>
            <a:pPr algn="l" marL="734058" indent="-367029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Python + FastAPI: Fast, lightweight API</a:t>
            </a:r>
          </a:p>
          <a:p>
            <a:pPr algn="l" marL="734058" indent="-367029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Rule-based ML model: Interpretable &amp; reliable</a:t>
            </a:r>
          </a:p>
          <a:p>
            <a:pPr algn="l" marL="734058" indent="-367029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Docker: Portable and reproducible</a:t>
            </a:r>
          </a:p>
          <a:p>
            <a:pPr algn="l" marL="734058" indent="-367029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Kubernetes-ready: Scalable cloud deployment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458107" y="228766"/>
            <a:ext cx="2229473" cy="64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5"/>
              </a:lnSpc>
              <a:spcBef>
                <a:spcPct val="0"/>
              </a:spcBef>
            </a:pPr>
            <a:r>
              <a:rPr lang="en-US" b="true" sz="3604">
                <a:solidFill>
                  <a:srgbClr val="0C3571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2531" y="8407870"/>
            <a:ext cx="207159" cy="444617"/>
          </a:xfrm>
          <a:custGeom>
            <a:avLst/>
            <a:gdLst/>
            <a:ahLst/>
            <a:cxnLst/>
            <a:rect r="r" b="b" t="t" l="l"/>
            <a:pathLst>
              <a:path h="444617" w="207159">
                <a:moveTo>
                  <a:pt x="0" y="0"/>
                </a:moveTo>
                <a:lnTo>
                  <a:pt x="207160" y="0"/>
                </a:lnTo>
                <a:lnTo>
                  <a:pt x="207160" y="444617"/>
                </a:lnTo>
                <a:lnTo>
                  <a:pt x="0" y="444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39217" y="1221429"/>
            <a:ext cx="3007947" cy="18393"/>
            <a:chOff x="0" y="0"/>
            <a:chExt cx="3007944" cy="183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06594" cy="18412"/>
            </a:xfrm>
            <a:custGeom>
              <a:avLst/>
              <a:gdLst/>
              <a:ahLst/>
              <a:cxnLst/>
              <a:rect r="r" b="b" t="t" l="l"/>
              <a:pathLst>
                <a:path h="18412" w="3006594">
                  <a:moveTo>
                    <a:pt x="0" y="0"/>
                  </a:moveTo>
                  <a:lnTo>
                    <a:pt x="0" y="18412"/>
                  </a:lnTo>
                  <a:lnTo>
                    <a:pt x="3006594" y="18412"/>
                  </a:lnTo>
                  <a:lnTo>
                    <a:pt x="3006594" y="0"/>
                  </a:lnTo>
                  <a:close/>
                </a:path>
              </a:pathLst>
            </a:custGeom>
            <a:solidFill>
              <a:srgbClr val="F6F7F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32449" y="1626298"/>
            <a:ext cx="18220896" cy="8660702"/>
          </a:xfrm>
          <a:custGeom>
            <a:avLst/>
            <a:gdLst/>
            <a:ahLst/>
            <a:cxnLst/>
            <a:rect r="r" b="b" t="t" l="l"/>
            <a:pathLst>
              <a:path h="8660702" w="18220896">
                <a:moveTo>
                  <a:pt x="0" y="0"/>
                </a:moveTo>
                <a:lnTo>
                  <a:pt x="18220896" y="0"/>
                </a:lnTo>
                <a:lnTo>
                  <a:pt x="18220896" y="8660702"/>
                </a:lnTo>
                <a:lnTo>
                  <a:pt x="0" y="866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5400000">
            <a:off x="-196598" y="8591378"/>
            <a:ext cx="72161" cy="7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"/>
              </a:lnSpc>
            </a:pPr>
            <a:r>
              <a:rPr lang="en-US" sz="43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52535" y="2367439"/>
            <a:ext cx="1071905" cy="33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5"/>
              </a:lnSpc>
            </a:pPr>
            <a:r>
              <a:rPr lang="en-US" b="true" sz="1853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FAST API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99431" y="3095215"/>
            <a:ext cx="1549546" cy="63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b="true" sz="17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USER/CLIENT Swagger UI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92991" y="3328892"/>
            <a:ext cx="1149439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RAW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85667" y="4904451"/>
            <a:ext cx="1775069" cy="59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b="true" sz="1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LOAD WEATHER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18078" y="8700249"/>
            <a:ext cx="2120922" cy="596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4"/>
              </a:lnSpc>
            </a:pPr>
            <a:r>
              <a:rPr lang="en-US" b="true" sz="1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Json Response with confidence value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7280" y="6719326"/>
            <a:ext cx="1811912" cy="3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b="true" sz="169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PREDICT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8225" y="8836333"/>
            <a:ext cx="547306" cy="33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8035" y="7379999"/>
            <a:ext cx="1712081" cy="67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Github Repo CI/CD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61446" y="3087995"/>
            <a:ext cx="2374554" cy="61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0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  <a:p>
            <a:pPr algn="ctr">
              <a:lnSpc>
                <a:spcPts val="2106"/>
              </a:lnSpc>
            </a:pPr>
            <a:r>
              <a:rPr lang="en-US" sz="150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(ingest.py)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73060" y="2691146"/>
            <a:ext cx="2119217" cy="131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0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STATISTICAL CLASSIFICATION MODEL</a:t>
            </a:r>
          </a:p>
          <a:p>
            <a:pPr algn="ctr">
              <a:lnSpc>
                <a:spcPts val="2110"/>
              </a:lnSpc>
            </a:pPr>
            <a:r>
              <a:rPr lang="en-US" sz="15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(model.py)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55150" y="2551008"/>
            <a:ext cx="3153194" cy="158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4"/>
              </a:lnSpc>
            </a:pPr>
            <a:r>
              <a:rPr lang="en-US" sz="25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CLEANING</a:t>
            </a:r>
          </a:p>
          <a:p>
            <a:pPr algn="ctr">
              <a:lnSpc>
                <a:spcPts val="3424"/>
              </a:lnSpc>
            </a:pPr>
            <a:r>
              <a:rPr lang="en-US" sz="250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AND FEATURE ENGINEERING</a:t>
            </a:r>
          </a:p>
          <a:p>
            <a:pPr algn="ctr">
              <a:lnSpc>
                <a:spcPts val="2365"/>
              </a:lnSpc>
            </a:pPr>
            <a:r>
              <a:rPr lang="en-US" sz="168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(process.py)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361" y="2916726"/>
            <a:ext cx="1453944" cy="69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019">
                <a:solidFill>
                  <a:srgbClr val="1800AD"/>
                </a:solidFill>
                <a:latin typeface="Arimo"/>
                <a:ea typeface="Arimo"/>
                <a:cs typeface="Arimo"/>
                <a:sym typeface="Arimo"/>
              </a:rPr>
              <a:t>External Data Source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82604" y="7871374"/>
            <a:ext cx="1751800" cy="38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27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Github Action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3733" y="8211388"/>
            <a:ext cx="79372" cy="43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90851" y="8201863"/>
            <a:ext cx="2753573" cy="44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CI/CD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02254" y="7951775"/>
            <a:ext cx="2405586" cy="44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DOCKER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2871" y="8389925"/>
            <a:ext cx="1045616" cy="45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IMAGE</a:t>
            </a:r>
          </a:p>
          <a:p>
            <a:pPr algn="r">
              <a:lnSpc>
                <a:spcPts val="187"/>
              </a:lnSpc>
            </a:pPr>
            <a:r>
              <a:rPr lang="en-US" sz="2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bfjwbsjjzc jnz vjn 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70656" y="9078011"/>
            <a:ext cx="118739" cy="3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"/>
              </a:lnSpc>
            </a:pPr>
            <a:r>
              <a:rPr lang="en-US" b="true" sz="152">
                <a:solidFill>
                  <a:srgbClr val="11171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Dina Khadka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41165" y="7951775"/>
            <a:ext cx="2117512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 DOCKER CONTAINER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11808" y="1599028"/>
            <a:ext cx="3296536" cy="486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b="true" sz="2727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PROCESSING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86993" y="3698024"/>
            <a:ext cx="371608" cy="25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b="true" sz="139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CSV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719749" y="7409993"/>
            <a:ext cx="2334606" cy="39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b="true" sz="227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GITHUB ACTION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01429" y="5903195"/>
            <a:ext cx="4216851" cy="123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3"/>
              </a:lnSpc>
            </a:pPr>
            <a:r>
              <a:rPr lang="en-US" b="true" sz="3508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Orchestration Distributed_system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22131" y="-22348"/>
            <a:ext cx="13749914" cy="77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4"/>
              </a:lnSpc>
              <a:spcBef>
                <a:spcPct val="0"/>
              </a:spcBef>
            </a:pPr>
            <a:r>
              <a:rPr lang="en-US" b="true" sz="4617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System Architecture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4450" y="4536824"/>
            <a:ext cx="5795891" cy="1758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49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Github Action</a:t>
            </a:r>
          </a:p>
          <a:p>
            <a:pPr algn="just">
              <a:lnSpc>
                <a:spcPts val="6999"/>
              </a:lnSpc>
            </a:pPr>
            <a:r>
              <a:rPr lang="en-US" sz="49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CI/CD Pipeline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5643" y="6790580"/>
            <a:ext cx="18082357" cy="151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27629" indent="-463815" lvl="1">
              <a:lnSpc>
                <a:spcPts val="6015"/>
              </a:lnSpc>
              <a:buFont typeface="Arial"/>
              <a:buChar char="•"/>
            </a:pPr>
            <a:r>
              <a:rPr lang="en-US" b="true" sz="4296">
                <a:solidFill>
                  <a:srgbClr val="0C3571"/>
                </a:solidFill>
                <a:latin typeface="Arimo Bold"/>
                <a:ea typeface="Arimo Bold"/>
                <a:cs typeface="Arimo Bold"/>
                <a:sym typeface="Arimo Bold"/>
              </a:rPr>
              <a:t>code push &gt;checkout source code &gt;Build Docker image &gt;Run container &gt;user swagger UI &gt;FastApi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942975"/>
            <a:ext cx="15152080" cy="363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16091" indent="-408045" lvl="1">
              <a:lnSpc>
                <a:spcPts val="5291"/>
              </a:lnSpc>
              <a:buFont typeface="Arial"/>
              <a:buChar char="•"/>
            </a:pPr>
            <a:r>
              <a:rPr lang="en-US" b="true" sz="3779">
                <a:solidFill>
                  <a:srgbClr val="0C3571"/>
                </a:solidFill>
                <a:latin typeface="Arimo Bold"/>
                <a:ea typeface="Arimo Bold"/>
                <a:cs typeface="Arimo Bold"/>
                <a:sym typeface="Arimo Bold"/>
              </a:rPr>
              <a:t>The system performance is monitored using evaluation metrics such as Precision and F1-score metrics</a:t>
            </a:r>
          </a:p>
          <a:p>
            <a:pPr algn="ctr">
              <a:lnSpc>
                <a:spcPts val="4171"/>
              </a:lnSpc>
              <a:spcBef>
                <a:spcPct val="0"/>
              </a:spcBef>
            </a:pPr>
          </a:p>
          <a:p>
            <a:pPr algn="ctr" marL="772913" indent="-386457" lvl="1">
              <a:lnSpc>
                <a:spcPts val="50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79">
                <a:solidFill>
                  <a:srgbClr val="0C3571"/>
                </a:solidFill>
                <a:latin typeface="Arimo Bold"/>
                <a:ea typeface="Arimo Bold"/>
                <a:cs typeface="Arimo Bold"/>
                <a:sym typeface="Arimo Bold"/>
              </a:rPr>
              <a:t>The confidence value shown in the result tells the user  how the weather prediction results gives accurate and balanced over time.</a:t>
            </a:r>
          </a:p>
          <a:p>
            <a:pPr algn="ctr">
              <a:lnSpc>
                <a:spcPts val="4171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4204877" y="18902"/>
            <a:ext cx="14924580" cy="80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1"/>
              </a:lnSpc>
              <a:spcBef>
                <a:spcPct val="0"/>
              </a:spcBef>
            </a:pPr>
            <a:r>
              <a:rPr lang="en-US" b="true" sz="4594">
                <a:solidFill>
                  <a:srgbClr val="0C3571"/>
                </a:solidFill>
                <a:latin typeface="Arimo Bold"/>
                <a:ea typeface="Arimo Bold"/>
                <a:cs typeface="Arimo Bold"/>
                <a:sym typeface="Arimo Bold"/>
              </a:rPr>
              <a:t>Monitoring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2438" y="286441"/>
            <a:ext cx="5847193" cy="959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5"/>
              </a:lnSpc>
            </a:pPr>
            <a:r>
              <a:rPr lang="en-US" b="true" sz="561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COMPONENT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6035" y="1370115"/>
            <a:ext cx="15944850" cy="700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Dataset( Kaggle)</a:t>
            </a:r>
          </a:p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FastAPI – Builds the RESTful API to handle client requests and return weather temperature analysis results.</a:t>
            </a:r>
          </a:p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Uvicorn – Runs the FastAPI application as a high-performance ASGI server.</a:t>
            </a:r>
          </a:p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Pandas – Loads, cleans and manipulates weather temperature datasets.</a:t>
            </a:r>
          </a:p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NumPy – Performs numerical computations required for data analysis.</a:t>
            </a:r>
          </a:p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Scikit-learn – Applies machine learning algorithms for temperature analysis and prediction.</a:t>
            </a:r>
          </a:p>
          <a:p>
            <a:pPr algn="just" marL="777680" indent="-388840" lvl="1">
              <a:lnSpc>
                <a:spcPts val="5042"/>
              </a:lnSpc>
              <a:buFont typeface="Arial"/>
              <a:buChar char="•"/>
            </a:pPr>
            <a:r>
              <a:rPr lang="en-US" sz="3602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Python-multipart – Enables file upload functionality through the API.</a:t>
            </a:r>
          </a:p>
          <a:p>
            <a:pPr algn="just">
              <a:lnSpc>
                <a:spcPts val="504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4270" y="1205367"/>
            <a:ext cx="15059461" cy="9424533"/>
          </a:xfrm>
          <a:custGeom>
            <a:avLst/>
            <a:gdLst/>
            <a:ahLst/>
            <a:cxnLst/>
            <a:rect r="r" b="b" t="t" l="l"/>
            <a:pathLst>
              <a:path h="9424533" w="15059461">
                <a:moveTo>
                  <a:pt x="0" y="0"/>
                </a:moveTo>
                <a:lnTo>
                  <a:pt x="15059460" y="0"/>
                </a:lnTo>
                <a:lnTo>
                  <a:pt x="15059460" y="9424533"/>
                </a:lnTo>
                <a:lnTo>
                  <a:pt x="0" y="94245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325" t="0" r="-2652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74065" y="260229"/>
            <a:ext cx="8433501" cy="133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0"/>
              </a:lnSpc>
            </a:pPr>
            <a:r>
              <a:rPr lang="en-US" b="true" sz="77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DEPLOMENT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6515100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924574" y="-357188"/>
            <a:ext cx="7059478" cy="4114800"/>
          </a:xfrm>
          <a:custGeom>
            <a:avLst/>
            <a:gdLst/>
            <a:ahLst/>
            <a:cxnLst/>
            <a:rect r="r" b="b" t="t" l="l"/>
            <a:pathLst>
              <a:path h="4114800" w="7059478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963894"/>
            <a:ext cx="13018493" cy="213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DAG99Ytfy1I</dc:identifier>
  <dcterms:modified xsi:type="dcterms:W3CDTF">2011-08-01T06:04:30Z</dcterms:modified>
  <cp:revision>1</cp:revision>
  <dc:title>Design Decisions</dc:title>
</cp:coreProperties>
</file>